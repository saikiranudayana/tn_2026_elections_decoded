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9" r:id="rId4"/>
    <p:sldId id="257" r:id="rId5"/>
    <p:sldId id="260" r:id="rId6"/>
    <p:sldId id="261" r:id="rId7"/>
    <p:sldId id="266" r:id="rId8"/>
    <p:sldId id="262" r:id="rId9"/>
    <p:sldId id="263" r:id="rId10"/>
    <p:sldId id="267" r:id="rId11"/>
    <p:sldId id="264" r:id="rId12"/>
    <p:sldId id="265" r:id="rId13"/>
    <p:sldId id="269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91" autoAdjust="0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94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2441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882396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2026 TN Elections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Decoded</a:t>
            </a:r>
            <a:endParaRPr lang="en-US" sz="50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2468880" cy="347472"/>
          </a:xfrm>
          <a:prstGeom prst="rect">
            <a:avLst/>
          </a:prstGeom>
          <a:solidFill>
            <a:srgbClr val="0EA5E9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4231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AtliQ Media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852928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Election Analytics Platform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Python · Streamlit · Plotly · Claude AI · ChatGPT · GitHub Copilot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611880"/>
            <a:ext cx="8138160" cy="457200"/>
          </a:xfrm>
          <a:prstGeom prst="rect">
            <a:avLst/>
          </a:prstGeom>
          <a:solidFill>
            <a:srgbClr val="1E2A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3630168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AtliQ Media Guidelines: All data sourced from Election Commission of India · For informational &amp; journalistic purposes only · No causal claims made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4206240"/>
            <a:ext cx="1920240" cy="804672"/>
          </a:xfrm>
          <a:prstGeom prst="rect">
            <a:avLst/>
          </a:prstGeom>
          <a:solidFill>
            <a:srgbClr val="1E2A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4206240"/>
            <a:ext cx="192024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2793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234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0080" y="4663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Constituencies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15768" y="4206240"/>
            <a:ext cx="1920240" cy="804672"/>
          </a:xfrm>
          <a:prstGeom prst="rect">
            <a:avLst/>
          </a:prstGeom>
          <a:solidFill>
            <a:srgbClr val="1E2A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15768" y="4206240"/>
            <a:ext cx="192024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2715768" y="42793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715768" y="4663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TVK Seats Won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91456" y="4206240"/>
            <a:ext cx="1920240" cy="804672"/>
          </a:xfrm>
          <a:prstGeom prst="rect">
            <a:avLst/>
          </a:prstGeom>
          <a:solidFill>
            <a:srgbClr val="1E2A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91456" y="4206240"/>
            <a:ext cx="192024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4791456" y="42793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85.1%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791456" y="4663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Voter Turnout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67144" y="4206240"/>
            <a:ext cx="1920240" cy="804672"/>
          </a:xfrm>
          <a:prstGeom prst="rect">
            <a:avLst/>
          </a:prstGeom>
          <a:solidFill>
            <a:srgbClr val="1E2A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67144" y="4206240"/>
            <a:ext cx="192024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5" name="Text 23"/>
          <p:cNvSpPr/>
          <p:nvPr/>
        </p:nvSpPr>
        <p:spPr>
          <a:xfrm>
            <a:off x="6867144" y="42793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4,023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867144" y="4663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675120" y="48280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Saikiran Udayana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Tools &amp; Technology Stack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of the stack, purposefully chosen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651760" cy="1371600"/>
          </a:xfrm>
          <a:prstGeom prst="rect">
            <a:avLst/>
          </a:prstGeom>
          <a:solidFill>
            <a:srgbClr val="1E2A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64008" cy="13716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40817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Python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" y="184708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wrangling, analysis, scripting &amp; automation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0" y="1280160"/>
            <a:ext cx="2651760" cy="1371600"/>
          </a:xfrm>
          <a:prstGeom prst="rect">
            <a:avLst/>
          </a:prstGeom>
          <a:solidFill>
            <a:srgbClr val="1E2A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280160"/>
            <a:ext cx="64008" cy="13716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3364992" y="140817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Streamlit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64992" y="184708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multi-page web dashboard framework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35040" y="1280160"/>
            <a:ext cx="2651760" cy="1371600"/>
          </a:xfrm>
          <a:prstGeom prst="rect">
            <a:avLst/>
          </a:prstGeom>
          <a:solidFill>
            <a:srgbClr val="1E2A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280160"/>
            <a:ext cx="64008" cy="1371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6199632" y="140817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Plotly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99632" y="184708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interactive charts, Sankey diagrams &amp; maps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2880360"/>
            <a:ext cx="2651760" cy="1371600"/>
          </a:xfrm>
          <a:prstGeom prst="rect">
            <a:avLst/>
          </a:prstGeom>
          <a:solidFill>
            <a:srgbClr val="1E2A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880360"/>
            <a:ext cx="64008" cy="13716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" y="300837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AI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0352" y="344728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generation, data insight &amp; prompt engineering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00400" y="2880360"/>
            <a:ext cx="2651760" cy="1371600"/>
          </a:xfrm>
          <a:prstGeom prst="rect">
            <a:avLst/>
          </a:prstGeom>
          <a:solidFill>
            <a:srgbClr val="1E2A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2880360"/>
            <a:ext cx="64008" cy="1371600"/>
          </a:xfrm>
          <a:prstGeom prst="rect">
            <a:avLst/>
          </a:prstGeom>
          <a:solidFill>
            <a:srgbClr val="48BB78"/>
          </a:solidFill>
          <a:ln/>
        </p:spPr>
      </p:sp>
      <p:sp>
        <p:nvSpPr>
          <p:cNvPr id="23" name="Text 21"/>
          <p:cNvSpPr/>
          <p:nvPr/>
        </p:nvSpPr>
        <p:spPr>
          <a:xfrm>
            <a:off x="3364992" y="300837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8BB7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ChatGPT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364992" y="344728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drafting, slide logic &amp; idea iteration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035040" y="2880360"/>
            <a:ext cx="2651760" cy="1371600"/>
          </a:xfrm>
          <a:prstGeom prst="rect">
            <a:avLst/>
          </a:prstGeom>
          <a:solidFill>
            <a:srgbClr val="1E2A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35040" y="2880360"/>
            <a:ext cx="64008" cy="1371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6199632" y="300837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GitHub Copilot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199632" y="344728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code suggestions &amp; boilerplate acceleration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Code Basics &amp; Architecture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7589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codebase is structured — clean, modular, and production-ready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3931920" cy="3724366"/>
          </a:xfrm>
          <a:prstGeom prst="rect">
            <a:avLst/>
          </a:prstGeom>
          <a:solidFill>
            <a:srgbClr val="1E2A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98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Project Structure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              ← Streamlit entry point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195681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pages/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21762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01_Results.py    ← Full constituency results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3957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02_MapView.py    ← Choropleth district map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61518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03_Regional.py   ← Region-level analysis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8346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04_Flips.py      ← Flip tracker + Sankey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305409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05_VoteShare.py  ← Vote % story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32735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06_Margins.py    ← Margin &amp; reserved seats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34930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37124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results_2026.csv ← ECI cleaned data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39319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results_2021.csv ← Baseline comparison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41513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utils/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43708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clean.py         ← Data cleaning helpers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45902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charts.py        ← Plotly chart factories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434840" y="1188720"/>
            <a:ext cx="4389120" cy="3724366"/>
          </a:xfrm>
          <a:prstGeom prst="rect">
            <a:avLst/>
          </a:prstGeom>
          <a:solidFill>
            <a:srgbClr val="1E2A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0" y="12984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Key Patterns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17720" y="1783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 Data Pipeline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09160" y="20574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@st.cache_data decorator on all load functions — fast reloads with zero recompute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17720" y="24048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Chart Factory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709160" y="26791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utils/charts.py exports reusable Plotly functions — consistent styling across all pages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17720" y="30266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State Management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709160" y="330098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st.session_state for filters (region, year, party) shared across chart components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17720" y="36484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⬇️  CSV Downloads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709160" y="392277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st.download_button on every analysis — journalists can export any filtered dataset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17720" y="42702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  Choropleth Maps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709160" y="454456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GeoJSON-based Plotly maps colored by alliance; hover tooltips show district seat counts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Story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historic election. A brand-new party. A data story waiting to be told.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651760" cy="2468880"/>
          </a:xfrm>
          <a:prstGeom prst="rect">
            <a:avLst/>
          </a:prstGeom>
          <a:solidFill>
            <a:srgbClr val="1E2A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25880"/>
            <a:ext cx="2651760" cy="640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4630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Historic Debut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" y="1920240"/>
            <a:ext cx="2423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TVK — Vijay's party — won 107 of 234 seats in its very first election, becoming the single largest party in Tamil Nadu.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00400" y="1325880"/>
            <a:ext cx="2651760" cy="2468880"/>
          </a:xfrm>
          <a:prstGeom prst="rect">
            <a:avLst/>
          </a:prstGeom>
          <a:solidFill>
            <a:srgbClr val="1E2A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325880"/>
            <a:ext cx="2651760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3310128" y="14630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Massive Realignment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10128" y="1920240"/>
            <a:ext cx="2423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162 of 234 constituencies (69.2%) changed hands — the largest political churn Tamil Nadu has seen in decades.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35040" y="1325880"/>
            <a:ext cx="2651760" cy="2468880"/>
          </a:xfrm>
          <a:prstGeom prst="rect">
            <a:avLst/>
          </a:prstGeom>
          <a:solidFill>
            <a:srgbClr val="1E2A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325880"/>
            <a:ext cx="2651760" cy="64008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5" name="Text 13"/>
          <p:cNvSpPr/>
          <p:nvPr/>
        </p:nvSpPr>
        <p:spPr>
          <a:xfrm>
            <a:off x="6144768" y="14630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3E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DMK Collapse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44768" y="1920240"/>
            <a:ext cx="2423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DMK went from 133 seats in 2021 to just 60 standalone seats in 2026 — a loss of 73 seats in a single election cycle.</a:t>
            </a:r>
            <a:endParaRPr lang="en-US" sz="1250" dirty="0"/>
          </a:p>
        </p:txBody>
      </p:sp>
      <p:pic>
        <p:nvPicPr>
          <p:cNvPr id="17" name="Image 0" descr="/mnt/user-data/uploads/Screenshot_2026-05-16_08152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3913632"/>
            <a:ext cx="4114800" cy="1078992"/>
          </a:xfrm>
          <a:prstGeom prst="rect">
            <a:avLst/>
          </a:prstGeom>
        </p:spPr>
      </p:pic>
      <p:pic>
        <p:nvPicPr>
          <p:cNvPr id="18" name="Image 1" descr="/mnt/user-data/uploads/Screenshot_2026-05-16_081548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26280" y="3913632"/>
            <a:ext cx="4297680" cy="10789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 Showcase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· Full Constituency Results</a:t>
            </a:r>
            <a:endParaRPr lang="en-US" sz="1300" dirty="0"/>
          </a:p>
        </p:txBody>
      </p:sp>
      <p:pic>
        <p:nvPicPr>
          <p:cNvPr id="5" name="Image 0" descr="/mnt/user-data/uploads/Screenshot_2026-05-16_08152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005840"/>
            <a:ext cx="5303520" cy="2011680"/>
          </a:xfrm>
          <a:prstGeom prst="rect">
            <a:avLst/>
          </a:prstGeom>
        </p:spPr>
      </p:pic>
      <p:pic>
        <p:nvPicPr>
          <p:cNvPr id="6" name="Image 1" descr="/mnt/user-data/uploads/Screenshot_2026-05-16_081548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15000" y="1005840"/>
            <a:ext cx="3154680" cy="2011680"/>
          </a:xfrm>
          <a:prstGeom prst="rect">
            <a:avLst/>
          </a:prstGeom>
        </p:spPr>
      </p:pic>
      <p:pic>
        <p:nvPicPr>
          <p:cNvPr id="7" name="Image 2" descr="/mnt/user-data/uploads/Screenshot_2026-05-16_081536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20040" y="3154680"/>
            <a:ext cx="5303520" cy="182880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5715000" y="3154680"/>
            <a:ext cx="3154680" cy="804672"/>
          </a:xfrm>
          <a:prstGeom prst="rect">
            <a:avLst/>
          </a:prstGeom>
          <a:solidFill>
            <a:srgbClr val="1E2A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4"/>
          <p:cNvSpPr/>
          <p:nvPr/>
        </p:nvSpPr>
        <p:spPr>
          <a:xfrm>
            <a:off x="5852160" y="32186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🏠 Home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5852160" y="354787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stats: 234 seats, 85.1% turnout, TVK 107 · SPK 73 · NDA 53</a:t>
            </a:r>
            <a:endParaRPr lang="en-US" sz="1050" dirty="0"/>
          </a:p>
        </p:txBody>
      </p:sp>
      <p:sp>
        <p:nvSpPr>
          <p:cNvPr id="11" name="Shape 6"/>
          <p:cNvSpPr/>
          <p:nvPr/>
        </p:nvSpPr>
        <p:spPr>
          <a:xfrm>
            <a:off x="5715000" y="4041648"/>
            <a:ext cx="3154680" cy="941832"/>
          </a:xfrm>
          <a:prstGeom prst="rect">
            <a:avLst/>
          </a:prstGeom>
          <a:solidFill>
            <a:srgbClr val="1E2A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7"/>
          <p:cNvSpPr/>
          <p:nvPr/>
        </p:nvSpPr>
        <p:spPr>
          <a:xfrm>
            <a:off x="5852160" y="4114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📋 Results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5852160" y="4453128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table: 234 constituencies, margins, candidates, parties, alliances with filter by district/party/alliance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8BB7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 Showcase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8B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View · Regional Analysis</a:t>
            </a:r>
            <a:endParaRPr lang="en-US" sz="1300" dirty="0"/>
          </a:p>
        </p:txBody>
      </p:sp>
      <p:pic>
        <p:nvPicPr>
          <p:cNvPr id="5" name="Image 0" descr="/mnt/user-data/uploads/Screenshot_2026-05-16_08161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987552"/>
            <a:ext cx="3931920" cy="3017520"/>
          </a:xfrm>
          <a:prstGeom prst="rect">
            <a:avLst/>
          </a:prstGeom>
        </p:spPr>
      </p:pic>
      <p:pic>
        <p:nvPicPr>
          <p:cNvPr id="6" name="Image 1" descr="/mnt/user-data/uploads/Screenshot_2026-05-16_081722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343400" y="987552"/>
            <a:ext cx="4480560" cy="1463040"/>
          </a:xfrm>
          <a:prstGeom prst="rect">
            <a:avLst/>
          </a:prstGeom>
        </p:spPr>
      </p:pic>
      <p:pic>
        <p:nvPicPr>
          <p:cNvPr id="7" name="Image 2" descr="/mnt/user-data/uploads/Screenshot_2026-05-16_081708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343400" y="2542032"/>
            <a:ext cx="4480560" cy="146304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320040" y="4114800"/>
            <a:ext cx="3931920" cy="749808"/>
          </a:xfrm>
          <a:prstGeom prst="rect">
            <a:avLst/>
          </a:prstGeom>
          <a:solidFill>
            <a:srgbClr val="1E2A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4"/>
          <p:cNvSpPr/>
          <p:nvPr/>
        </p:nvSpPr>
        <p:spPr>
          <a:xfrm>
            <a:off x="457200" y="4169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8BB7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🗺️  Map View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457200" y="444398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choropleth — alliance dominance by color · 2021/2026/Side-by-side toggle</a:t>
            </a:r>
            <a:endParaRPr lang="en-US" sz="1000" dirty="0"/>
          </a:p>
        </p:txBody>
      </p:sp>
      <p:sp>
        <p:nvSpPr>
          <p:cNvPr id="11" name="Shape 6"/>
          <p:cNvSpPr/>
          <p:nvPr/>
        </p:nvSpPr>
        <p:spPr>
          <a:xfrm>
            <a:off x="4343400" y="4114800"/>
            <a:ext cx="4480560" cy="749808"/>
          </a:xfrm>
          <a:prstGeom prst="rect">
            <a:avLst/>
          </a:prstGeom>
          <a:solidFill>
            <a:srgbClr val="1E2A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7"/>
          <p:cNvSpPr/>
          <p:nvPr/>
        </p:nvSpPr>
        <p:spPr>
          <a:xfrm>
            <a:off x="4480560" y="416966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8BB7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📍  Regional Analysis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4480560" y="4443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swing table + seat distribution bar charts across 6 regions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Regional Swing Summary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every region voted — who gained, who lost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1417320" cy="38404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11556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91640" y="1115568"/>
            <a:ext cx="548640" cy="38404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1691640" y="111556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914400" cy="38404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2240280" y="111556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2021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54680" y="1115568"/>
            <a:ext cx="1051560" cy="38404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3154680" y="111556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2026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06240" y="1115568"/>
            <a:ext cx="868680" cy="38404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4206240" y="111556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TVK Wins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74920" y="1115568"/>
            <a:ext cx="804672" cy="38404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5074920" y="1115568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DMK Δ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79592" y="1115568"/>
            <a:ext cx="804672" cy="38404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5879592" y="1115568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ADMK Δ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84264" y="1115568"/>
            <a:ext cx="749808" cy="38404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6684264" y="1115568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1499616"/>
            <a:ext cx="1417320" cy="512064"/>
          </a:xfrm>
          <a:prstGeom prst="rect">
            <a:avLst/>
          </a:prstGeom>
          <a:solidFill>
            <a:srgbClr val="1E2A44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1499616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 Metro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691640" y="1499616"/>
            <a:ext cx="548640" cy="512064"/>
          </a:xfrm>
          <a:prstGeom prst="rect">
            <a:avLst/>
          </a:prstGeom>
          <a:solidFill>
            <a:srgbClr val="1E2A44"/>
          </a:solidFill>
          <a:ln/>
        </p:spPr>
      </p:sp>
      <p:sp>
        <p:nvSpPr>
          <p:cNvPr id="24" name="Text 22"/>
          <p:cNvSpPr/>
          <p:nvPr/>
        </p:nvSpPr>
        <p:spPr>
          <a:xfrm>
            <a:off x="1691640" y="1499616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240280" y="1499616"/>
            <a:ext cx="914400" cy="512064"/>
          </a:xfrm>
          <a:prstGeom prst="rect">
            <a:avLst/>
          </a:prstGeom>
          <a:solidFill>
            <a:srgbClr val="1E2A44"/>
          </a:solidFill>
          <a:ln/>
        </p:spPr>
      </p:sp>
      <p:sp>
        <p:nvSpPr>
          <p:cNvPr id="26" name="Text 24"/>
          <p:cNvSpPr/>
          <p:nvPr/>
        </p:nvSpPr>
        <p:spPr>
          <a:xfrm>
            <a:off x="2240280" y="1499616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DMK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154680" y="1499616"/>
            <a:ext cx="1051560" cy="512064"/>
          </a:xfrm>
          <a:prstGeom prst="rect">
            <a:avLst/>
          </a:prstGeom>
          <a:solidFill>
            <a:srgbClr val="1E2A44"/>
          </a:solidFill>
          <a:ln/>
        </p:spPr>
      </p:sp>
      <p:sp>
        <p:nvSpPr>
          <p:cNvPr id="28" name="Text 26"/>
          <p:cNvSpPr/>
          <p:nvPr/>
        </p:nvSpPr>
        <p:spPr>
          <a:xfrm>
            <a:off x="3154680" y="1499616"/>
            <a:ext cx="1051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TVK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206240" y="1499616"/>
            <a:ext cx="868680" cy="512064"/>
          </a:xfrm>
          <a:prstGeom prst="rect">
            <a:avLst/>
          </a:prstGeom>
          <a:solidFill>
            <a:srgbClr val="1E2A44"/>
          </a:solidFill>
          <a:ln/>
        </p:spPr>
      </p:sp>
      <p:sp>
        <p:nvSpPr>
          <p:cNvPr id="30" name="Text 28"/>
          <p:cNvSpPr/>
          <p:nvPr/>
        </p:nvSpPr>
        <p:spPr>
          <a:xfrm>
            <a:off x="4206240" y="1499616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74920" y="1499616"/>
            <a:ext cx="804672" cy="512064"/>
          </a:xfrm>
          <a:prstGeom prst="rect">
            <a:avLst/>
          </a:prstGeom>
          <a:solidFill>
            <a:srgbClr val="1E2A44"/>
          </a:solidFill>
          <a:ln/>
        </p:spPr>
      </p:sp>
      <p:sp>
        <p:nvSpPr>
          <p:cNvPr id="32" name="Text 30"/>
          <p:cNvSpPr/>
          <p:nvPr/>
        </p:nvSpPr>
        <p:spPr>
          <a:xfrm>
            <a:off x="5074920" y="1499616"/>
            <a:ext cx="804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-27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879592" y="1499616"/>
            <a:ext cx="804672" cy="512064"/>
          </a:xfrm>
          <a:prstGeom prst="rect">
            <a:avLst/>
          </a:prstGeom>
          <a:solidFill>
            <a:srgbClr val="1E2A44"/>
          </a:solidFill>
          <a:ln/>
        </p:spPr>
      </p:sp>
      <p:sp>
        <p:nvSpPr>
          <p:cNvPr id="34" name="Text 32"/>
          <p:cNvSpPr/>
          <p:nvPr/>
        </p:nvSpPr>
        <p:spPr>
          <a:xfrm>
            <a:off x="5879592" y="1499616"/>
            <a:ext cx="804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8B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684264" y="1499616"/>
            <a:ext cx="749808" cy="512064"/>
          </a:xfrm>
          <a:prstGeom prst="rect">
            <a:avLst/>
          </a:prstGeom>
          <a:solidFill>
            <a:srgbClr val="1E2A44"/>
          </a:solidFill>
          <a:ln/>
        </p:spPr>
      </p:sp>
      <p:sp>
        <p:nvSpPr>
          <p:cNvPr id="36" name="Text 34"/>
          <p:cNvSpPr/>
          <p:nvPr/>
        </p:nvSpPr>
        <p:spPr>
          <a:xfrm>
            <a:off x="6684264" y="1499616"/>
            <a:ext cx="74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2011680"/>
            <a:ext cx="1417320" cy="512064"/>
          </a:xfrm>
          <a:prstGeom prst="rect">
            <a:avLst/>
          </a:prstGeom>
          <a:solidFill>
            <a:srgbClr val="182338"/>
          </a:solidFill>
          <a:ln/>
        </p:spPr>
      </p:sp>
      <p:sp>
        <p:nvSpPr>
          <p:cNvPr id="38" name="Text 36"/>
          <p:cNvSpPr/>
          <p:nvPr/>
        </p:nvSpPr>
        <p:spPr>
          <a:xfrm>
            <a:off x="274320" y="2011680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691640" y="2011680"/>
            <a:ext cx="548640" cy="512064"/>
          </a:xfrm>
          <a:prstGeom prst="rect">
            <a:avLst/>
          </a:prstGeom>
          <a:solidFill>
            <a:srgbClr val="182338"/>
          </a:solidFill>
          <a:ln/>
        </p:spPr>
      </p:sp>
      <p:sp>
        <p:nvSpPr>
          <p:cNvPr id="40" name="Text 38"/>
          <p:cNvSpPr/>
          <p:nvPr/>
        </p:nvSpPr>
        <p:spPr>
          <a:xfrm>
            <a:off x="1691640" y="201168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240280" y="2011680"/>
            <a:ext cx="914400" cy="512064"/>
          </a:xfrm>
          <a:prstGeom prst="rect">
            <a:avLst/>
          </a:prstGeom>
          <a:solidFill>
            <a:srgbClr val="182338"/>
          </a:solidFill>
          <a:ln/>
        </p:spPr>
      </p:sp>
      <p:sp>
        <p:nvSpPr>
          <p:cNvPr id="42" name="Text 40"/>
          <p:cNvSpPr/>
          <p:nvPr/>
        </p:nvSpPr>
        <p:spPr>
          <a:xfrm>
            <a:off x="2240280" y="2011680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DMK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154680" y="2011680"/>
            <a:ext cx="1051560" cy="512064"/>
          </a:xfrm>
          <a:prstGeom prst="rect">
            <a:avLst/>
          </a:prstGeom>
          <a:solidFill>
            <a:srgbClr val="182338"/>
          </a:solidFill>
          <a:ln/>
        </p:spPr>
      </p:sp>
      <p:sp>
        <p:nvSpPr>
          <p:cNvPr id="44" name="Text 42"/>
          <p:cNvSpPr/>
          <p:nvPr/>
        </p:nvSpPr>
        <p:spPr>
          <a:xfrm>
            <a:off x="3154680" y="2011680"/>
            <a:ext cx="1051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TVK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206240" y="2011680"/>
            <a:ext cx="868680" cy="512064"/>
          </a:xfrm>
          <a:prstGeom prst="rect">
            <a:avLst/>
          </a:prstGeom>
          <a:solidFill>
            <a:srgbClr val="182338"/>
          </a:solidFill>
          <a:ln/>
        </p:spPr>
      </p:sp>
      <p:sp>
        <p:nvSpPr>
          <p:cNvPr id="46" name="Text 44"/>
          <p:cNvSpPr/>
          <p:nvPr/>
        </p:nvSpPr>
        <p:spPr>
          <a:xfrm>
            <a:off x="4206240" y="201168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074920" y="2011680"/>
            <a:ext cx="804672" cy="512064"/>
          </a:xfrm>
          <a:prstGeom prst="rect">
            <a:avLst/>
          </a:prstGeom>
          <a:solidFill>
            <a:srgbClr val="182338"/>
          </a:solidFill>
          <a:ln/>
        </p:spPr>
      </p:sp>
      <p:sp>
        <p:nvSpPr>
          <p:cNvPr id="48" name="Text 46"/>
          <p:cNvSpPr/>
          <p:nvPr/>
        </p:nvSpPr>
        <p:spPr>
          <a:xfrm>
            <a:off x="5074920" y="2011680"/>
            <a:ext cx="804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-15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879592" y="2011680"/>
            <a:ext cx="804672" cy="512064"/>
          </a:xfrm>
          <a:prstGeom prst="rect">
            <a:avLst/>
          </a:prstGeom>
          <a:solidFill>
            <a:srgbClr val="182338"/>
          </a:solidFill>
          <a:ln/>
        </p:spPr>
      </p:sp>
      <p:sp>
        <p:nvSpPr>
          <p:cNvPr id="50" name="Text 48"/>
          <p:cNvSpPr/>
          <p:nvPr/>
        </p:nvSpPr>
        <p:spPr>
          <a:xfrm>
            <a:off x="5879592" y="2011680"/>
            <a:ext cx="804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8B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684264" y="2011680"/>
            <a:ext cx="749808" cy="512064"/>
          </a:xfrm>
          <a:prstGeom prst="rect">
            <a:avLst/>
          </a:prstGeom>
          <a:solidFill>
            <a:srgbClr val="182338"/>
          </a:solidFill>
          <a:ln/>
        </p:spPr>
      </p:sp>
      <p:sp>
        <p:nvSpPr>
          <p:cNvPr id="52" name="Text 50"/>
          <p:cNvSpPr/>
          <p:nvPr/>
        </p:nvSpPr>
        <p:spPr>
          <a:xfrm>
            <a:off x="6684264" y="2011680"/>
            <a:ext cx="74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74320" y="2523744"/>
            <a:ext cx="1417320" cy="512064"/>
          </a:xfrm>
          <a:prstGeom prst="rect">
            <a:avLst/>
          </a:prstGeom>
          <a:solidFill>
            <a:srgbClr val="1E2A44"/>
          </a:solidFill>
          <a:ln/>
        </p:spPr>
      </p:sp>
      <p:sp>
        <p:nvSpPr>
          <p:cNvPr id="54" name="Text 52"/>
          <p:cNvSpPr/>
          <p:nvPr/>
        </p:nvSpPr>
        <p:spPr>
          <a:xfrm>
            <a:off x="274320" y="2523744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1691640" y="2523744"/>
            <a:ext cx="548640" cy="512064"/>
          </a:xfrm>
          <a:prstGeom prst="rect">
            <a:avLst/>
          </a:prstGeom>
          <a:solidFill>
            <a:srgbClr val="1E2A44"/>
          </a:solidFill>
          <a:ln/>
        </p:spPr>
      </p:sp>
      <p:sp>
        <p:nvSpPr>
          <p:cNvPr id="56" name="Text 54"/>
          <p:cNvSpPr/>
          <p:nvPr/>
        </p:nvSpPr>
        <p:spPr>
          <a:xfrm>
            <a:off x="1691640" y="2523744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240280" y="2523744"/>
            <a:ext cx="914400" cy="512064"/>
          </a:xfrm>
          <a:prstGeom prst="rect">
            <a:avLst/>
          </a:prstGeom>
          <a:solidFill>
            <a:srgbClr val="1E2A44"/>
          </a:solidFill>
          <a:ln/>
        </p:spPr>
      </p:sp>
      <p:sp>
        <p:nvSpPr>
          <p:cNvPr id="58" name="Text 56"/>
          <p:cNvSpPr/>
          <p:nvPr/>
        </p:nvSpPr>
        <p:spPr>
          <a:xfrm>
            <a:off x="2240280" y="2523744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DMK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3154680" y="2523744"/>
            <a:ext cx="1051560" cy="512064"/>
          </a:xfrm>
          <a:prstGeom prst="rect">
            <a:avLst/>
          </a:prstGeom>
          <a:solidFill>
            <a:srgbClr val="1E2A44"/>
          </a:solidFill>
          <a:ln/>
        </p:spPr>
      </p:sp>
      <p:sp>
        <p:nvSpPr>
          <p:cNvPr id="60" name="Text 58"/>
          <p:cNvSpPr/>
          <p:nvPr/>
        </p:nvSpPr>
        <p:spPr>
          <a:xfrm>
            <a:off x="3154680" y="2523744"/>
            <a:ext cx="1051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AIADMK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206240" y="2523744"/>
            <a:ext cx="868680" cy="512064"/>
          </a:xfrm>
          <a:prstGeom prst="rect">
            <a:avLst/>
          </a:prstGeom>
          <a:solidFill>
            <a:srgbClr val="1E2A44"/>
          </a:solidFill>
          <a:ln/>
        </p:spPr>
      </p:sp>
      <p:sp>
        <p:nvSpPr>
          <p:cNvPr id="62" name="Text 60"/>
          <p:cNvSpPr/>
          <p:nvPr/>
        </p:nvSpPr>
        <p:spPr>
          <a:xfrm>
            <a:off x="4206240" y="2523744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5074920" y="2523744"/>
            <a:ext cx="804672" cy="512064"/>
          </a:xfrm>
          <a:prstGeom prst="rect">
            <a:avLst/>
          </a:prstGeom>
          <a:solidFill>
            <a:srgbClr val="1E2A44"/>
          </a:solidFill>
          <a:ln/>
        </p:spPr>
      </p:sp>
      <p:sp>
        <p:nvSpPr>
          <p:cNvPr id="64" name="Text 62"/>
          <p:cNvSpPr/>
          <p:nvPr/>
        </p:nvSpPr>
        <p:spPr>
          <a:xfrm>
            <a:off x="5074920" y="2523744"/>
            <a:ext cx="804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-13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5879592" y="2523744"/>
            <a:ext cx="804672" cy="512064"/>
          </a:xfrm>
          <a:prstGeom prst="rect">
            <a:avLst/>
          </a:prstGeom>
          <a:solidFill>
            <a:srgbClr val="1E2A44"/>
          </a:solidFill>
          <a:ln/>
        </p:spPr>
      </p:sp>
      <p:sp>
        <p:nvSpPr>
          <p:cNvPr id="66" name="Text 64"/>
          <p:cNvSpPr/>
          <p:nvPr/>
        </p:nvSpPr>
        <p:spPr>
          <a:xfrm>
            <a:off x="5879592" y="2523744"/>
            <a:ext cx="804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6684264" y="2523744"/>
            <a:ext cx="749808" cy="512064"/>
          </a:xfrm>
          <a:prstGeom prst="rect">
            <a:avLst/>
          </a:prstGeom>
          <a:solidFill>
            <a:srgbClr val="1E2A44"/>
          </a:solidFill>
          <a:ln/>
        </p:spPr>
      </p:sp>
      <p:sp>
        <p:nvSpPr>
          <p:cNvPr id="68" name="Text 66"/>
          <p:cNvSpPr/>
          <p:nvPr/>
        </p:nvSpPr>
        <p:spPr>
          <a:xfrm>
            <a:off x="6684264" y="2523744"/>
            <a:ext cx="74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274320" y="3035808"/>
            <a:ext cx="1417320" cy="512064"/>
          </a:xfrm>
          <a:prstGeom prst="rect">
            <a:avLst/>
          </a:prstGeom>
          <a:solidFill>
            <a:srgbClr val="182338"/>
          </a:solidFill>
          <a:ln/>
        </p:spPr>
      </p:sp>
      <p:sp>
        <p:nvSpPr>
          <p:cNvPr id="70" name="Text 68"/>
          <p:cNvSpPr/>
          <p:nvPr/>
        </p:nvSpPr>
        <p:spPr>
          <a:xfrm>
            <a:off x="274320" y="3035808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Kongu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1691640" y="3035808"/>
            <a:ext cx="548640" cy="512064"/>
          </a:xfrm>
          <a:prstGeom prst="rect">
            <a:avLst/>
          </a:prstGeom>
          <a:solidFill>
            <a:srgbClr val="182338"/>
          </a:solidFill>
          <a:ln/>
        </p:spPr>
      </p:sp>
      <p:sp>
        <p:nvSpPr>
          <p:cNvPr id="72" name="Text 70"/>
          <p:cNvSpPr/>
          <p:nvPr/>
        </p:nvSpPr>
        <p:spPr>
          <a:xfrm>
            <a:off x="1691640" y="3035808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2240280" y="3035808"/>
            <a:ext cx="914400" cy="512064"/>
          </a:xfrm>
          <a:prstGeom prst="rect">
            <a:avLst/>
          </a:prstGeom>
          <a:solidFill>
            <a:srgbClr val="182338"/>
          </a:solidFill>
          <a:ln/>
        </p:spPr>
      </p:sp>
      <p:sp>
        <p:nvSpPr>
          <p:cNvPr id="74" name="Text 72"/>
          <p:cNvSpPr/>
          <p:nvPr/>
        </p:nvSpPr>
        <p:spPr>
          <a:xfrm>
            <a:off x="2240280" y="3035808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AIADMK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3154680" y="3035808"/>
            <a:ext cx="1051560" cy="512064"/>
          </a:xfrm>
          <a:prstGeom prst="rect">
            <a:avLst/>
          </a:prstGeom>
          <a:solidFill>
            <a:srgbClr val="182338"/>
          </a:solidFill>
          <a:ln/>
        </p:spPr>
      </p:sp>
      <p:sp>
        <p:nvSpPr>
          <p:cNvPr id="76" name="Text 74"/>
          <p:cNvSpPr/>
          <p:nvPr/>
        </p:nvSpPr>
        <p:spPr>
          <a:xfrm>
            <a:off x="3154680" y="3035808"/>
            <a:ext cx="1051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TVK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4206240" y="3035808"/>
            <a:ext cx="868680" cy="512064"/>
          </a:xfrm>
          <a:prstGeom prst="rect">
            <a:avLst/>
          </a:prstGeom>
          <a:solidFill>
            <a:srgbClr val="182338"/>
          </a:solidFill>
          <a:ln/>
        </p:spPr>
      </p:sp>
      <p:sp>
        <p:nvSpPr>
          <p:cNvPr id="78" name="Text 76"/>
          <p:cNvSpPr/>
          <p:nvPr/>
        </p:nvSpPr>
        <p:spPr>
          <a:xfrm>
            <a:off x="4206240" y="3035808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5074920" y="3035808"/>
            <a:ext cx="804672" cy="512064"/>
          </a:xfrm>
          <a:prstGeom prst="rect">
            <a:avLst/>
          </a:prstGeom>
          <a:solidFill>
            <a:srgbClr val="182338"/>
          </a:solidFill>
          <a:ln/>
        </p:spPr>
      </p:sp>
      <p:sp>
        <p:nvSpPr>
          <p:cNvPr id="80" name="Text 78"/>
          <p:cNvSpPr/>
          <p:nvPr/>
        </p:nvSpPr>
        <p:spPr>
          <a:xfrm>
            <a:off x="5074920" y="3035808"/>
            <a:ext cx="804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5879592" y="3035808"/>
            <a:ext cx="804672" cy="512064"/>
          </a:xfrm>
          <a:prstGeom prst="rect">
            <a:avLst/>
          </a:prstGeom>
          <a:solidFill>
            <a:srgbClr val="182338"/>
          </a:solidFill>
          <a:ln/>
        </p:spPr>
      </p:sp>
      <p:sp>
        <p:nvSpPr>
          <p:cNvPr id="82" name="Text 80"/>
          <p:cNvSpPr/>
          <p:nvPr/>
        </p:nvSpPr>
        <p:spPr>
          <a:xfrm>
            <a:off x="5879592" y="3035808"/>
            <a:ext cx="804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6684264" y="3035808"/>
            <a:ext cx="749808" cy="512064"/>
          </a:xfrm>
          <a:prstGeom prst="rect">
            <a:avLst/>
          </a:prstGeom>
          <a:solidFill>
            <a:srgbClr val="182338"/>
          </a:solidFill>
          <a:ln/>
        </p:spPr>
      </p:sp>
      <p:sp>
        <p:nvSpPr>
          <p:cNvPr id="84" name="Text 82"/>
          <p:cNvSpPr/>
          <p:nvPr/>
        </p:nvSpPr>
        <p:spPr>
          <a:xfrm>
            <a:off x="6684264" y="3035808"/>
            <a:ext cx="74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274320" y="3547872"/>
            <a:ext cx="1417320" cy="512064"/>
          </a:xfrm>
          <a:prstGeom prst="rect">
            <a:avLst/>
          </a:prstGeom>
          <a:solidFill>
            <a:srgbClr val="1E2A44"/>
          </a:solidFill>
          <a:ln/>
        </p:spPr>
      </p:sp>
      <p:sp>
        <p:nvSpPr>
          <p:cNvPr id="86" name="Text 84"/>
          <p:cNvSpPr/>
          <p:nvPr/>
        </p:nvSpPr>
        <p:spPr>
          <a:xfrm>
            <a:off x="274320" y="3547872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1691640" y="3547872"/>
            <a:ext cx="548640" cy="512064"/>
          </a:xfrm>
          <a:prstGeom prst="rect">
            <a:avLst/>
          </a:prstGeom>
          <a:solidFill>
            <a:srgbClr val="1E2A44"/>
          </a:solidFill>
          <a:ln/>
        </p:spPr>
      </p:sp>
      <p:sp>
        <p:nvSpPr>
          <p:cNvPr id="88" name="Text 86"/>
          <p:cNvSpPr/>
          <p:nvPr/>
        </p:nvSpPr>
        <p:spPr>
          <a:xfrm>
            <a:off x="1691640" y="3547872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2240280" y="3547872"/>
            <a:ext cx="914400" cy="512064"/>
          </a:xfrm>
          <a:prstGeom prst="rect">
            <a:avLst/>
          </a:prstGeom>
          <a:solidFill>
            <a:srgbClr val="1E2A44"/>
          </a:solidFill>
          <a:ln/>
        </p:spPr>
      </p:sp>
      <p:sp>
        <p:nvSpPr>
          <p:cNvPr id="90" name="Text 88"/>
          <p:cNvSpPr/>
          <p:nvPr/>
        </p:nvSpPr>
        <p:spPr>
          <a:xfrm>
            <a:off x="2240280" y="3547872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DMK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3154680" y="3547872"/>
            <a:ext cx="1051560" cy="512064"/>
          </a:xfrm>
          <a:prstGeom prst="rect">
            <a:avLst/>
          </a:prstGeom>
          <a:solidFill>
            <a:srgbClr val="1E2A44"/>
          </a:solidFill>
          <a:ln/>
        </p:spPr>
      </p:sp>
      <p:sp>
        <p:nvSpPr>
          <p:cNvPr id="92" name="Text 90"/>
          <p:cNvSpPr/>
          <p:nvPr/>
        </p:nvSpPr>
        <p:spPr>
          <a:xfrm>
            <a:off x="3154680" y="3547872"/>
            <a:ext cx="1051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DMK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4206240" y="3547872"/>
            <a:ext cx="868680" cy="512064"/>
          </a:xfrm>
          <a:prstGeom prst="rect">
            <a:avLst/>
          </a:prstGeom>
          <a:solidFill>
            <a:srgbClr val="1E2A44"/>
          </a:solidFill>
          <a:ln/>
        </p:spPr>
      </p:sp>
      <p:sp>
        <p:nvSpPr>
          <p:cNvPr id="94" name="Text 92"/>
          <p:cNvSpPr/>
          <p:nvPr/>
        </p:nvSpPr>
        <p:spPr>
          <a:xfrm>
            <a:off x="4206240" y="3547872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5074920" y="3547872"/>
            <a:ext cx="804672" cy="512064"/>
          </a:xfrm>
          <a:prstGeom prst="rect">
            <a:avLst/>
          </a:prstGeom>
          <a:solidFill>
            <a:srgbClr val="1E2A44"/>
          </a:solidFill>
          <a:ln/>
        </p:spPr>
      </p:sp>
      <p:sp>
        <p:nvSpPr>
          <p:cNvPr id="96" name="Text 94"/>
          <p:cNvSpPr/>
          <p:nvPr/>
        </p:nvSpPr>
        <p:spPr>
          <a:xfrm>
            <a:off x="5074920" y="3547872"/>
            <a:ext cx="804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-9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5879592" y="3547872"/>
            <a:ext cx="804672" cy="512064"/>
          </a:xfrm>
          <a:prstGeom prst="rect">
            <a:avLst/>
          </a:prstGeom>
          <a:solidFill>
            <a:srgbClr val="1E2A44"/>
          </a:solidFill>
          <a:ln/>
        </p:spPr>
      </p:sp>
      <p:sp>
        <p:nvSpPr>
          <p:cNvPr id="98" name="Text 96"/>
          <p:cNvSpPr/>
          <p:nvPr/>
        </p:nvSpPr>
        <p:spPr>
          <a:xfrm>
            <a:off x="5879592" y="3547872"/>
            <a:ext cx="804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6684264" y="3547872"/>
            <a:ext cx="749808" cy="512064"/>
          </a:xfrm>
          <a:prstGeom prst="rect">
            <a:avLst/>
          </a:prstGeom>
          <a:solidFill>
            <a:srgbClr val="1E2A44"/>
          </a:solidFill>
          <a:ln/>
        </p:spPr>
      </p:sp>
      <p:sp>
        <p:nvSpPr>
          <p:cNvPr id="100" name="Text 98"/>
          <p:cNvSpPr/>
          <p:nvPr/>
        </p:nvSpPr>
        <p:spPr>
          <a:xfrm>
            <a:off x="6684264" y="3547872"/>
            <a:ext cx="74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101" name="Shape 99"/>
          <p:cNvSpPr/>
          <p:nvPr/>
        </p:nvSpPr>
        <p:spPr>
          <a:xfrm>
            <a:off x="274320" y="4059936"/>
            <a:ext cx="1417320" cy="512064"/>
          </a:xfrm>
          <a:prstGeom prst="rect">
            <a:avLst/>
          </a:prstGeom>
          <a:solidFill>
            <a:srgbClr val="182338"/>
          </a:solidFill>
          <a:ln/>
        </p:spPr>
      </p:sp>
      <p:sp>
        <p:nvSpPr>
          <p:cNvPr id="102" name="Text 100"/>
          <p:cNvSpPr/>
          <p:nvPr/>
        </p:nvSpPr>
        <p:spPr>
          <a:xfrm>
            <a:off x="274320" y="4059936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</a:t>
            </a:r>
            <a:endParaRPr lang="en-US" sz="1100" dirty="0"/>
          </a:p>
        </p:txBody>
      </p:sp>
      <p:sp>
        <p:nvSpPr>
          <p:cNvPr id="103" name="Shape 101"/>
          <p:cNvSpPr/>
          <p:nvPr/>
        </p:nvSpPr>
        <p:spPr>
          <a:xfrm>
            <a:off x="1691640" y="4059936"/>
            <a:ext cx="548640" cy="512064"/>
          </a:xfrm>
          <a:prstGeom prst="rect">
            <a:avLst/>
          </a:prstGeom>
          <a:solidFill>
            <a:srgbClr val="182338"/>
          </a:solidFill>
          <a:ln/>
        </p:spPr>
      </p:sp>
      <p:sp>
        <p:nvSpPr>
          <p:cNvPr id="104" name="Text 102"/>
          <p:cNvSpPr/>
          <p:nvPr/>
        </p:nvSpPr>
        <p:spPr>
          <a:xfrm>
            <a:off x="1691640" y="4059936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100" dirty="0"/>
          </a:p>
        </p:txBody>
      </p:sp>
      <p:sp>
        <p:nvSpPr>
          <p:cNvPr id="105" name="Shape 103"/>
          <p:cNvSpPr/>
          <p:nvPr/>
        </p:nvSpPr>
        <p:spPr>
          <a:xfrm>
            <a:off x="2240280" y="4059936"/>
            <a:ext cx="914400" cy="512064"/>
          </a:xfrm>
          <a:prstGeom prst="rect">
            <a:avLst/>
          </a:prstGeom>
          <a:solidFill>
            <a:srgbClr val="182338"/>
          </a:solidFill>
          <a:ln/>
        </p:spPr>
      </p:sp>
      <p:sp>
        <p:nvSpPr>
          <p:cNvPr id="106" name="Text 104"/>
          <p:cNvSpPr/>
          <p:nvPr/>
        </p:nvSpPr>
        <p:spPr>
          <a:xfrm>
            <a:off x="2240280" y="4059936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DMK</a:t>
            </a:r>
            <a:endParaRPr lang="en-US" sz="1100" dirty="0"/>
          </a:p>
        </p:txBody>
      </p:sp>
      <p:sp>
        <p:nvSpPr>
          <p:cNvPr id="107" name="Shape 105"/>
          <p:cNvSpPr/>
          <p:nvPr/>
        </p:nvSpPr>
        <p:spPr>
          <a:xfrm>
            <a:off x="3154680" y="4059936"/>
            <a:ext cx="1051560" cy="512064"/>
          </a:xfrm>
          <a:prstGeom prst="rect">
            <a:avLst/>
          </a:prstGeom>
          <a:solidFill>
            <a:srgbClr val="182338"/>
          </a:solidFill>
          <a:ln/>
        </p:spPr>
      </p:sp>
      <p:sp>
        <p:nvSpPr>
          <p:cNvPr id="108" name="Text 106"/>
          <p:cNvSpPr/>
          <p:nvPr/>
        </p:nvSpPr>
        <p:spPr>
          <a:xfrm>
            <a:off x="3154680" y="4059936"/>
            <a:ext cx="1051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TVK</a:t>
            </a:r>
            <a:endParaRPr lang="en-US" sz="1100" dirty="0"/>
          </a:p>
        </p:txBody>
      </p:sp>
      <p:sp>
        <p:nvSpPr>
          <p:cNvPr id="109" name="Shape 107"/>
          <p:cNvSpPr/>
          <p:nvPr/>
        </p:nvSpPr>
        <p:spPr>
          <a:xfrm>
            <a:off x="4206240" y="4059936"/>
            <a:ext cx="868680" cy="512064"/>
          </a:xfrm>
          <a:prstGeom prst="rect">
            <a:avLst/>
          </a:prstGeom>
          <a:solidFill>
            <a:srgbClr val="182338"/>
          </a:solidFill>
          <a:ln/>
        </p:spPr>
      </p:sp>
      <p:sp>
        <p:nvSpPr>
          <p:cNvPr id="110" name="Text 108"/>
          <p:cNvSpPr/>
          <p:nvPr/>
        </p:nvSpPr>
        <p:spPr>
          <a:xfrm>
            <a:off x="4206240" y="4059936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100" dirty="0"/>
          </a:p>
        </p:txBody>
      </p:sp>
      <p:sp>
        <p:nvSpPr>
          <p:cNvPr id="111" name="Shape 109"/>
          <p:cNvSpPr/>
          <p:nvPr/>
        </p:nvSpPr>
        <p:spPr>
          <a:xfrm>
            <a:off x="5074920" y="4059936"/>
            <a:ext cx="804672" cy="512064"/>
          </a:xfrm>
          <a:prstGeom prst="rect">
            <a:avLst/>
          </a:prstGeom>
          <a:solidFill>
            <a:srgbClr val="182338"/>
          </a:solidFill>
          <a:ln/>
        </p:spPr>
      </p:sp>
      <p:sp>
        <p:nvSpPr>
          <p:cNvPr id="112" name="Text 110"/>
          <p:cNvSpPr/>
          <p:nvPr/>
        </p:nvSpPr>
        <p:spPr>
          <a:xfrm>
            <a:off x="5074920" y="4059936"/>
            <a:ext cx="804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</a:t>
            </a:r>
            <a:endParaRPr lang="en-US" sz="1100" dirty="0"/>
          </a:p>
        </p:txBody>
      </p:sp>
      <p:sp>
        <p:nvSpPr>
          <p:cNvPr id="113" name="Shape 111"/>
          <p:cNvSpPr/>
          <p:nvPr/>
        </p:nvSpPr>
        <p:spPr>
          <a:xfrm>
            <a:off x="5879592" y="4059936"/>
            <a:ext cx="804672" cy="512064"/>
          </a:xfrm>
          <a:prstGeom prst="rect">
            <a:avLst/>
          </a:prstGeom>
          <a:solidFill>
            <a:srgbClr val="182338"/>
          </a:solidFill>
          <a:ln/>
        </p:spPr>
      </p:sp>
      <p:sp>
        <p:nvSpPr>
          <p:cNvPr id="114" name="Text 112"/>
          <p:cNvSpPr/>
          <p:nvPr/>
        </p:nvSpPr>
        <p:spPr>
          <a:xfrm>
            <a:off x="5879592" y="4059936"/>
            <a:ext cx="804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-11</a:t>
            </a:r>
            <a:endParaRPr lang="en-US" sz="1100" dirty="0"/>
          </a:p>
        </p:txBody>
      </p:sp>
      <p:sp>
        <p:nvSpPr>
          <p:cNvPr id="115" name="Shape 113"/>
          <p:cNvSpPr/>
          <p:nvPr/>
        </p:nvSpPr>
        <p:spPr>
          <a:xfrm>
            <a:off x="6684264" y="4059936"/>
            <a:ext cx="749808" cy="512064"/>
          </a:xfrm>
          <a:prstGeom prst="rect">
            <a:avLst/>
          </a:prstGeom>
          <a:solidFill>
            <a:srgbClr val="182338"/>
          </a:solidFill>
          <a:ln/>
        </p:spPr>
      </p:sp>
      <p:sp>
        <p:nvSpPr>
          <p:cNvPr id="116" name="Text 114"/>
          <p:cNvSpPr/>
          <p:nvPr/>
        </p:nvSpPr>
        <p:spPr>
          <a:xfrm>
            <a:off x="6684264" y="4059936"/>
            <a:ext cx="74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100" dirty="0"/>
          </a:p>
        </p:txBody>
      </p:sp>
      <p:pic>
        <p:nvPicPr>
          <p:cNvPr id="117" name="Image 0" descr="/mnt/user-data/uploads/Screenshot_2026-05-16_08172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4343400"/>
            <a:ext cx="859536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 Showcase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Constituency Flip Tracker</a:t>
            </a:r>
            <a:endParaRPr lang="en-US" sz="1300" dirty="0"/>
          </a:p>
        </p:txBody>
      </p:sp>
      <p:pic>
        <p:nvPicPr>
          <p:cNvPr id="5" name="Image 0" descr="/mnt/user-data/uploads/Screenshot_2026-05-16_08173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987552"/>
            <a:ext cx="4206240" cy="1371600"/>
          </a:xfrm>
          <a:prstGeom prst="rect">
            <a:avLst/>
          </a:prstGeom>
        </p:spPr>
      </p:pic>
      <p:pic>
        <p:nvPicPr>
          <p:cNvPr id="6" name="Image 1" descr="/mnt/user-data/uploads/Screenshot_2026-05-16_081745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17720" y="987552"/>
            <a:ext cx="4251960" cy="1371600"/>
          </a:xfrm>
          <a:prstGeom prst="rect">
            <a:avLst/>
          </a:prstGeom>
        </p:spPr>
      </p:pic>
      <p:pic>
        <p:nvPicPr>
          <p:cNvPr id="8" name="Image 3" descr="/mnt/user-data/uploads/Screenshot_2026-05-16_081804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246914" y="2450592"/>
            <a:ext cx="3831772" cy="2514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6CF7CAB-BF06-8A7F-4826-2E302D92AE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" y="2571750"/>
            <a:ext cx="4810708" cy="23413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 Showcase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Share Story</a:t>
            </a:r>
            <a:endParaRPr lang="en-US" sz="1300" dirty="0"/>
          </a:p>
        </p:txBody>
      </p:sp>
      <p:pic>
        <p:nvPicPr>
          <p:cNvPr id="5" name="Image 0" descr="/mnt/user-data/uploads/Screenshot_2026-05-16_08184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987552"/>
            <a:ext cx="5303520" cy="2103120"/>
          </a:xfrm>
          <a:prstGeom prst="rect">
            <a:avLst/>
          </a:prstGeom>
        </p:spPr>
      </p:pic>
      <p:pic>
        <p:nvPicPr>
          <p:cNvPr id="6" name="Image 1" descr="/mnt/user-data/uploads/Screenshot_2026-05-16_081835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15000" y="987552"/>
            <a:ext cx="3154680" cy="2103120"/>
          </a:xfrm>
          <a:prstGeom prst="rect">
            <a:avLst/>
          </a:prstGeom>
        </p:spPr>
      </p:pic>
      <p:pic>
        <p:nvPicPr>
          <p:cNvPr id="7" name="Image 2" descr="/mnt/user-data/uploads/Screenshot_2026-05-16_081848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20040" y="3182112"/>
            <a:ext cx="4114800" cy="1737360"/>
          </a:xfrm>
          <a:prstGeom prst="rect">
            <a:avLst/>
          </a:prstGeom>
        </p:spPr>
      </p:pic>
      <p:pic>
        <p:nvPicPr>
          <p:cNvPr id="8" name="Image 3" descr="/mnt/user-data/uploads/Screenshot_2026-05-16_082034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526280" y="3182112"/>
            <a:ext cx="434340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State-wide Vote Share Shift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TVK captures the votes that DMK and AIADMK lost</a:t>
            </a:r>
            <a:endParaRPr lang="en-US" sz="1300" dirty="0"/>
          </a:p>
        </p:txBody>
      </p:sp>
      <p:pic>
        <p:nvPicPr>
          <p:cNvPr id="5" name="Image 0" descr="/mnt/user-data/uploads/Screenshot_2026-05-16_08183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024128"/>
            <a:ext cx="5349240" cy="3017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60720" y="1024128"/>
            <a:ext cx="3154680" cy="566928"/>
          </a:xfrm>
          <a:prstGeom prst="rect">
            <a:avLst/>
          </a:prstGeom>
          <a:solidFill>
            <a:srgbClr val="1E2A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60720" y="1024128"/>
            <a:ext cx="54864" cy="56692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5"/>
          <p:cNvSpPr/>
          <p:nvPr/>
        </p:nvSpPr>
        <p:spPr>
          <a:xfrm>
            <a:off x="5897880" y="10698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🆕 TVK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0" y="10698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34.9%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897880" y="13258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2021: —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760720" y="1664208"/>
            <a:ext cx="3154680" cy="566928"/>
          </a:xfrm>
          <a:prstGeom prst="rect">
            <a:avLst/>
          </a:prstGeom>
          <a:solidFill>
            <a:srgbClr val="1E2A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760720" y="1664208"/>
            <a:ext cx="54864" cy="566928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3" name="Text 10"/>
          <p:cNvSpPr/>
          <p:nvPr/>
        </p:nvSpPr>
        <p:spPr>
          <a:xfrm>
            <a:off x="5897880" y="17099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3E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↓ DMK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0" y="17099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E53E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24.2%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897880" y="19659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2021: 37.7%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760720" y="2304288"/>
            <a:ext cx="3154680" cy="566928"/>
          </a:xfrm>
          <a:prstGeom prst="rect">
            <a:avLst/>
          </a:prstGeom>
          <a:solidFill>
            <a:srgbClr val="1E2A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760720" y="2304288"/>
            <a:ext cx="54864" cy="566928"/>
          </a:xfrm>
          <a:prstGeom prst="rect">
            <a:avLst/>
          </a:prstGeom>
          <a:solidFill>
            <a:srgbClr val="48BB78"/>
          </a:solidFill>
          <a:ln/>
        </p:spPr>
      </p:sp>
      <p:sp>
        <p:nvSpPr>
          <p:cNvPr id="18" name="Text 15"/>
          <p:cNvSpPr/>
          <p:nvPr/>
        </p:nvSpPr>
        <p:spPr>
          <a:xfrm>
            <a:off x="5897880" y="23500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8BB7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↓ AIADMK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315200" y="23500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48BB7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21.2%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897880" y="26060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2021: 33.3%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760720" y="2944368"/>
            <a:ext cx="3154680" cy="566928"/>
          </a:xfrm>
          <a:prstGeom prst="rect">
            <a:avLst/>
          </a:prstGeom>
          <a:solidFill>
            <a:srgbClr val="1E2A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760720" y="2944368"/>
            <a:ext cx="54864" cy="56692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3" name="Text 20"/>
          <p:cNvSpPr/>
          <p:nvPr/>
        </p:nvSpPr>
        <p:spPr>
          <a:xfrm>
            <a:off x="5897880" y="29900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↓ NTK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315200" y="29900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897880" y="32461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2021: 6.6%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760720" y="3584448"/>
            <a:ext cx="3154680" cy="566928"/>
          </a:xfrm>
          <a:prstGeom prst="rect">
            <a:avLst/>
          </a:prstGeom>
          <a:solidFill>
            <a:srgbClr val="1E2A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760720" y="3584448"/>
            <a:ext cx="54864" cy="5669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5"/>
          <p:cNvSpPr/>
          <p:nvPr/>
        </p:nvSpPr>
        <p:spPr>
          <a:xfrm>
            <a:off x="5897880" y="3630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↓ INC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7315200" y="3630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3.4%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897880" y="38862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2021: 4.3%</a:t>
            </a:r>
            <a:endParaRPr lang="en-US" sz="1000" dirty="0"/>
          </a:p>
        </p:txBody>
      </p:sp>
      <p:pic>
        <p:nvPicPr>
          <p:cNvPr id="31" name="Image 1" descr="/mnt/user-data/uploads/Screenshot_2026-05-16_082127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0040" y="4133088"/>
            <a:ext cx="850392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 Showcase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of Victory · Reserved Seats Analysis</a:t>
            </a:r>
            <a:endParaRPr lang="en-US" sz="1300" dirty="0"/>
          </a:p>
        </p:txBody>
      </p:sp>
      <p:pic>
        <p:nvPicPr>
          <p:cNvPr id="8" name="Image 3" descr="/mnt/user-data/uploads/Screenshot_2026-05-16_082018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978408"/>
            <a:ext cx="8549640" cy="3392424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320040" y="4462272"/>
            <a:ext cx="8549640" cy="548640"/>
          </a:xfrm>
          <a:prstGeom prst="rect">
            <a:avLst/>
          </a:prstGeom>
          <a:solidFill>
            <a:srgbClr val="1E2A44"/>
          </a:solidFill>
          <a:ln/>
        </p:spPr>
      </p:sp>
      <p:sp>
        <p:nvSpPr>
          <p:cNvPr id="10" name="Text 4"/>
          <p:cNvSpPr/>
          <p:nvPr/>
        </p:nvSpPr>
        <p:spPr>
          <a:xfrm>
            <a:off x="457200" y="4507992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Reserved Seats: GEN (188 seats, 69.1% flip) · SC (44 seats, 70.5% flip) · ST (2 seats, 50% flip)  |  Narrowest win: Tiruppattur — 1 vote margin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Insights from the Data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7589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numbers reveal about Tamil Nadu's political shift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2011680" cy="1234440"/>
          </a:xfrm>
          <a:prstGeom prst="rect">
            <a:avLst/>
          </a:prstGeom>
          <a:solidFill>
            <a:srgbClr val="1E2A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61872"/>
            <a:ext cx="2011680" cy="640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37160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34.9%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74320" y="1874520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TVK Vote Share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21305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Debut — largest vote share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23160" y="1261872"/>
            <a:ext cx="2011680" cy="1234440"/>
          </a:xfrm>
          <a:prstGeom prst="rect">
            <a:avLst/>
          </a:prstGeom>
          <a:solidFill>
            <a:srgbClr val="1E2A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23160" y="1261872"/>
            <a:ext cx="2011680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2423160" y="137160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423160" y="1874520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Seats Flipped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23160" y="21305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69.2% flip rate — historic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0" y="1261872"/>
            <a:ext cx="2011680" cy="1234440"/>
          </a:xfrm>
          <a:prstGeom prst="rect">
            <a:avLst/>
          </a:prstGeom>
          <a:solidFill>
            <a:srgbClr val="1E2A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1261872"/>
            <a:ext cx="201168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137160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150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572000" y="1874520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Wins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21305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40% margin — ultra-competitive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20840" y="1261872"/>
            <a:ext cx="2011680" cy="1234440"/>
          </a:xfrm>
          <a:prstGeom prst="rect">
            <a:avLst/>
          </a:prstGeom>
          <a:solidFill>
            <a:srgbClr val="1E2A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20840" y="1261872"/>
            <a:ext cx="2011680" cy="64008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22" name="Text 20"/>
          <p:cNvSpPr/>
          <p:nvPr/>
        </p:nvSpPr>
        <p:spPr>
          <a:xfrm>
            <a:off x="6720840" y="137160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53E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720840" y="1874520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Margin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20840" y="21305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Tiruppattur — 1 vote!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2578608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🔶  TVK — with 34.9% state-wide vote share and 17.2M votes — is the dominant political force entering Tamil Nadu legislature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65760" y="3163824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🔶  DMK vote share fell from 37.7% in 2021 to 24.2% in 2026 across all 6 regions — sharpest decline in Chennai Metro (44% → 25%)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65760" y="374904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🔶  AIADMK vote share dropped from 33.3% to 21.2% — losing 12 percentage points state-wide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65760" y="4334256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🔶  Win Category shift: Landslide wins fell from 70 to 13; Narrow wins (&lt;40%) exploded from 13 to 150 — a far more competitive election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43400"/>
            <a:ext cx="9144000" cy="8001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curiosity, data, and a little help from AI.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487168"/>
            <a:ext cx="2377440" cy="1508760"/>
          </a:xfrm>
          <a:prstGeom prst="rect">
            <a:avLst/>
          </a:prstGeom>
          <a:solidFill>
            <a:srgbClr val="1E2A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5786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944368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Election Commission of India (ECI)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64992" y="2487168"/>
            <a:ext cx="2377440" cy="1508760"/>
          </a:xfrm>
          <a:prstGeom prst="rect">
            <a:avLst/>
          </a:prstGeom>
          <a:solidFill>
            <a:srgbClr val="1E2A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64992" y="25786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56432" y="2944368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· Plotly · Python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07024" y="2487168"/>
            <a:ext cx="2377440" cy="1508760"/>
          </a:xfrm>
          <a:prstGeom prst="rect">
            <a:avLst/>
          </a:prstGeom>
          <a:solidFill>
            <a:srgbClr val="1E2A44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07024" y="25786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98464" y="2944368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· ChatGPT · Copilot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" y="4407408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Saikiran Udayana  ·  2026 TN Elections Dashboard  ·  Built for AtliQ Media  ·  Data: ECI · For informational purposes only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602</TotalTime>
  <Words>956</Words>
  <Application>Microsoft Office PowerPoint</Application>
  <PresentationFormat>On-screen Show (16:9)</PresentationFormat>
  <Paragraphs>199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TN Elections Dashboard – Pitch</dc:title>
  <dc:subject>PptxGenJS Presentation</dc:subject>
  <dc:creator>PptxGenJS</dc:creator>
  <cp:lastModifiedBy>saikiran udayana</cp:lastModifiedBy>
  <cp:revision>2</cp:revision>
  <dcterms:created xsi:type="dcterms:W3CDTF">2026-05-16T03:05:09Z</dcterms:created>
  <dcterms:modified xsi:type="dcterms:W3CDTF">2026-05-16T13:58:03Z</dcterms:modified>
</cp:coreProperties>
</file>